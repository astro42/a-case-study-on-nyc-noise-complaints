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1" r:id="rId15"/>
    <p:sldId id="272" r:id="rId16"/>
    <p:sldId id="269" r:id="rId17"/>
    <p:sldId id="273" r:id="rId18"/>
    <p:sldId id="274" r:id="rId19"/>
    <p:sldId id="275" r:id="rId20"/>
    <p:sldId id="276"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E93E4C4-FFB4-4EF1-8F4B-760E8E484C21}" v="444" dt="2023-08-20T19:18:21.55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72" autoAdjust="0"/>
    <p:restoredTop sz="94660"/>
  </p:normalViewPr>
  <p:slideViewPr>
    <p:cSldViewPr snapToGrid="0">
      <p:cViewPr varScale="1">
        <p:scale>
          <a:sx n="85" d="100"/>
          <a:sy n="85" d="100"/>
        </p:scale>
        <p:origin x="365"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20-Aug-23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20-Aug-23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20-Aug-23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20-Aug-23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20-Aug-23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20-Aug-23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20-Aug-23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20-Aug-23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20-Aug-23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20-Aug-23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20-Aug-23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20-Aug-23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pandas.pydata.org/" TargetMode="External"/><Relationship Id="rId2" Type="http://schemas.openxmlformats.org/officeDocument/2006/relationships/hyperlink" Target="https://matplotlib.org/" TargetMode="External"/><Relationship Id="rId1" Type="http://schemas.openxmlformats.org/officeDocument/2006/relationships/slideLayout" Target="../slideLayouts/slideLayout2.xml"/><Relationship Id="rId4" Type="http://schemas.openxmlformats.org/officeDocument/2006/relationships/hyperlink" Target="https://www.w3schools.com/python/pandas/default.asp"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327079"/>
            <a:ext cx="9030269" cy="2182884"/>
          </a:xfrm>
        </p:spPr>
        <p:txBody>
          <a:bodyPr vert="horz" lIns="91440" tIns="45720" rIns="91440" bIns="45720" rtlCol="0" anchor="b">
            <a:noAutofit/>
          </a:bodyPr>
          <a:lstStyle/>
          <a:p>
            <a:br>
              <a:rPr lang="en-US" sz="2400" dirty="0">
                <a:ea typeface="Calibri Light"/>
                <a:cs typeface="Calibri Light"/>
              </a:rPr>
            </a:br>
            <a:br>
              <a:rPr lang="en-US" sz="2400" dirty="0">
                <a:ea typeface="Calibri Light"/>
                <a:cs typeface="Calibri Light"/>
              </a:rPr>
            </a:br>
            <a:endParaRPr lang="en-US" sz="2400">
              <a:ea typeface="Calibri Light"/>
              <a:cs typeface="Calibri Light"/>
            </a:endParaRPr>
          </a:p>
          <a:p>
            <a:endParaRPr lang="en-US" sz="2400" dirty="0">
              <a:ea typeface="Calibri Light"/>
              <a:cs typeface="Calibri Light"/>
            </a:endParaRPr>
          </a:p>
        </p:txBody>
      </p:sp>
      <p:sp>
        <p:nvSpPr>
          <p:cNvPr id="3" name="Subtitle 2"/>
          <p:cNvSpPr>
            <a:spLocks noGrp="1"/>
          </p:cNvSpPr>
          <p:nvPr>
            <p:ph type="subTitle" idx="1"/>
          </p:nvPr>
        </p:nvSpPr>
        <p:spPr>
          <a:xfrm>
            <a:off x="1462821" y="3955782"/>
            <a:ext cx="9144000" cy="1655762"/>
          </a:xfrm>
        </p:spPr>
        <p:txBody>
          <a:bodyPr vert="horz" lIns="91440" tIns="45720" rIns="91440" bIns="45720" rtlCol="0" anchor="t">
            <a:noAutofit/>
          </a:bodyPr>
          <a:lstStyle/>
          <a:p>
            <a:pPr>
              <a:spcBef>
                <a:spcPct val="0"/>
              </a:spcBef>
            </a:pPr>
            <a:r>
              <a:rPr lang="en-US" sz="4000" err="1">
                <a:latin typeface="Calibri Light"/>
                <a:ea typeface="Calibri Light"/>
                <a:cs typeface="Calibri Light"/>
              </a:rPr>
              <a:t>Srinidheesh</a:t>
            </a:r>
            <a:r>
              <a:rPr lang="en-US" sz="4000" dirty="0">
                <a:latin typeface="Calibri Light"/>
                <a:ea typeface="Calibri Light"/>
                <a:cs typeface="Calibri Light"/>
              </a:rPr>
              <a:t> Ranganathan</a:t>
            </a:r>
          </a:p>
          <a:p>
            <a:pPr>
              <a:spcBef>
                <a:spcPct val="0"/>
              </a:spcBef>
            </a:pPr>
            <a:r>
              <a:rPr lang="en-US" sz="3200" dirty="0">
                <a:latin typeface="Calibri Light"/>
                <a:ea typeface="Calibri Light"/>
                <a:cs typeface="Calibri Light"/>
              </a:rPr>
              <a:t>College of Professional Studies, Northeastern University</a:t>
            </a:r>
          </a:p>
          <a:p>
            <a:pPr>
              <a:spcBef>
                <a:spcPct val="0"/>
              </a:spcBef>
            </a:pPr>
            <a:r>
              <a:rPr lang="en-US" sz="3200" dirty="0">
                <a:latin typeface="Calibri Light"/>
                <a:ea typeface="Calibri Light"/>
                <a:cs typeface="Calibri Light"/>
              </a:rPr>
              <a:t>EAI 6120: AI Communication and Visualization</a:t>
            </a:r>
          </a:p>
          <a:p>
            <a:pPr>
              <a:spcBef>
                <a:spcPct val="0"/>
              </a:spcBef>
            </a:pPr>
            <a:r>
              <a:rPr lang="en-US" sz="3200" dirty="0">
                <a:latin typeface="Calibri Light"/>
                <a:ea typeface="Calibri Light"/>
                <a:cs typeface="Calibri Light"/>
              </a:rPr>
              <a:t>Prof. John Wilder</a:t>
            </a:r>
          </a:p>
        </p:txBody>
      </p:sp>
      <p:pic>
        <p:nvPicPr>
          <p:cNvPr id="4" name="Picture 3" descr="A black background with red text&#10;&#10;Description automatically generated">
            <a:extLst>
              <a:ext uri="{FF2B5EF4-FFF2-40B4-BE49-F238E27FC236}">
                <a16:creationId xmlns:a16="http://schemas.microsoft.com/office/drawing/2014/main" id="{CA4F2BF3-FE68-8CFA-7D6C-E6BC36BD1171}"/>
              </a:ext>
            </a:extLst>
          </p:cNvPr>
          <p:cNvPicPr>
            <a:picLocks noChangeAspect="1"/>
          </p:cNvPicPr>
          <p:nvPr/>
        </p:nvPicPr>
        <p:blipFill>
          <a:blip r:embed="rId2"/>
          <a:stretch>
            <a:fillRect/>
          </a:stretch>
        </p:blipFill>
        <p:spPr>
          <a:xfrm>
            <a:off x="2290550" y="325450"/>
            <a:ext cx="8054452" cy="1464504"/>
          </a:xfrm>
          <a:prstGeom prst="rect">
            <a:avLst/>
          </a:prstGeom>
        </p:spPr>
      </p:pic>
      <p:sp>
        <p:nvSpPr>
          <p:cNvPr id="5" name="TextBox 4">
            <a:extLst>
              <a:ext uri="{FF2B5EF4-FFF2-40B4-BE49-F238E27FC236}">
                <a16:creationId xmlns:a16="http://schemas.microsoft.com/office/drawing/2014/main" id="{5616259E-5270-0FDA-DDD8-38D8F80E3E05}"/>
              </a:ext>
            </a:extLst>
          </p:cNvPr>
          <p:cNvSpPr txBox="1"/>
          <p:nvPr/>
        </p:nvSpPr>
        <p:spPr>
          <a:xfrm>
            <a:off x="2493560" y="1907843"/>
            <a:ext cx="734931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dirty="0">
                <a:ea typeface="Calibri"/>
                <a:cs typeface="Calibri"/>
              </a:rPr>
              <a:t>A case study on NYC Noise Complaints</a:t>
            </a:r>
            <a:endParaRPr lang="en-US" sz="3600">
              <a:ea typeface="Calibri"/>
              <a:cs typeface="Calibri"/>
            </a:endParaRP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71F759-39A1-EC69-A6DC-B6060DBEE1C6}"/>
              </a:ext>
            </a:extLst>
          </p:cNvPr>
          <p:cNvSpPr>
            <a:spLocks noGrp="1"/>
          </p:cNvSpPr>
          <p:nvPr>
            <p:ph type="title"/>
          </p:nvPr>
        </p:nvSpPr>
        <p:spPr>
          <a:xfrm>
            <a:off x="838200" y="365125"/>
            <a:ext cx="10515600" cy="1325563"/>
          </a:xfrm>
        </p:spPr>
        <p:txBody>
          <a:bodyPr>
            <a:normAutofit/>
          </a:bodyPr>
          <a:lstStyle/>
          <a:p>
            <a:r>
              <a:rPr lang="en-US" sz="5400">
                <a:ea typeface="Calibri Light"/>
                <a:cs typeface="Calibri Light"/>
              </a:rPr>
              <a:t>Introduction:</a:t>
            </a:r>
            <a:endParaRPr lang="en-US" sz="54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750573A-E14D-971B-8BBA-ED07318C175F}"/>
              </a:ext>
            </a:extLst>
          </p:cNvPr>
          <p:cNvSpPr>
            <a:spLocks noGrp="1"/>
          </p:cNvSpPr>
          <p:nvPr>
            <p:ph idx="1"/>
          </p:nvPr>
        </p:nvSpPr>
        <p:spPr>
          <a:xfrm>
            <a:off x="838200" y="1929384"/>
            <a:ext cx="10515600" cy="4251960"/>
          </a:xfrm>
        </p:spPr>
        <p:txBody>
          <a:bodyPr vert="horz" lIns="91440" tIns="45720" rIns="91440" bIns="45720" rtlCol="0" anchor="t">
            <a:normAutofit lnSpcReduction="10000"/>
          </a:bodyPr>
          <a:lstStyle/>
          <a:p>
            <a:endParaRPr lang="en-US" sz="2200" dirty="0"/>
          </a:p>
          <a:p>
            <a:pPr marL="0" indent="0" algn="just">
              <a:buNone/>
            </a:pPr>
            <a:r>
              <a:rPr lang="en-US" sz="2600" dirty="0">
                <a:ea typeface="Calibri"/>
                <a:cs typeface="Calibri"/>
              </a:rPr>
              <a:t>In today's fast-paced world, data-driven strategies have emerged as game-changers in solving real-world challenges. By tapping into the vast sea of information provided by advanced data analysis, these strategies offer innovative solutions to complex problems. Through evidence-based decision-making, they empower leaders to allocate resources efficiently, overcome hurdles effectively, and implement targeted interventions. From healthcare to urban planning and environmental management, data-driven approaches have demonstrated their prowess in uncovering insights that were once hidden, driving progress and innovation. As we delve into the realm of data-driven solutions, it's clear that they are reshaping the landscape of problem-solving, ushering in a new era of transformative and impactful solutions.</a:t>
            </a:r>
            <a:endParaRPr lang="en-US" dirty="0"/>
          </a:p>
        </p:txBody>
      </p:sp>
    </p:spTree>
    <p:extLst>
      <p:ext uri="{BB962C8B-B14F-4D97-AF65-F5344CB8AC3E}">
        <p14:creationId xmlns:p14="http://schemas.microsoft.com/office/powerpoint/2010/main" val="3177706953"/>
      </p:ext>
    </p:extLst>
  </p:cSld>
  <p:clrMapOvr>
    <a:masterClrMapping/>
  </p:clrMapOvr>
  <mc:AlternateContent xmlns:mc="http://schemas.openxmlformats.org/markup-compatibility/2006">
    <mc:Choice xmlns:p14="http://schemas.microsoft.com/office/powerpoint/2010/main" Requires="p14">
      <p:transition spd="slow" p14:dur="2000" advTm="3547"/>
    </mc:Choice>
    <mc:Fallback>
      <p:transition spd="slow" advTm="3547"/>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ACF50A7-F096-7C1A-FC61-EB3C24E95778}"/>
              </a:ext>
            </a:extLst>
          </p:cNvPr>
          <p:cNvSpPr>
            <a:spLocks noGrp="1"/>
          </p:cNvSpPr>
          <p:nvPr>
            <p:ph type="title"/>
          </p:nvPr>
        </p:nvSpPr>
        <p:spPr>
          <a:xfrm>
            <a:off x="761803" y="350196"/>
            <a:ext cx="4646904" cy="1624520"/>
          </a:xfrm>
        </p:spPr>
        <p:txBody>
          <a:bodyPr anchor="ctr">
            <a:normAutofit/>
          </a:bodyPr>
          <a:lstStyle/>
          <a:p>
            <a:r>
              <a:rPr lang="en-US" sz="4000" b="1">
                <a:ea typeface="Calibri Light"/>
                <a:cs typeface="Calibri Light"/>
              </a:rPr>
              <a:t>About the dataset</a:t>
            </a:r>
            <a:endParaRPr lang="en-US" sz="4000" b="1"/>
          </a:p>
        </p:txBody>
      </p:sp>
      <p:sp>
        <p:nvSpPr>
          <p:cNvPr id="3" name="Content Placeholder 2">
            <a:extLst>
              <a:ext uri="{FF2B5EF4-FFF2-40B4-BE49-F238E27FC236}">
                <a16:creationId xmlns:a16="http://schemas.microsoft.com/office/drawing/2014/main" id="{6623875C-0E85-2036-8D3D-B8C11E018AFB}"/>
              </a:ext>
            </a:extLst>
          </p:cNvPr>
          <p:cNvSpPr>
            <a:spLocks noGrp="1"/>
          </p:cNvSpPr>
          <p:nvPr>
            <p:ph idx="1"/>
          </p:nvPr>
        </p:nvSpPr>
        <p:spPr>
          <a:xfrm>
            <a:off x="761802" y="2743200"/>
            <a:ext cx="4646905" cy="3613149"/>
          </a:xfrm>
        </p:spPr>
        <p:txBody>
          <a:bodyPr vert="horz" lIns="91440" tIns="45720" rIns="91440" bIns="45720" rtlCol="0" anchor="ctr">
            <a:normAutofit/>
          </a:bodyPr>
          <a:lstStyle/>
          <a:p>
            <a:pPr marL="0" indent="0" algn="just">
              <a:buNone/>
            </a:pPr>
            <a:r>
              <a:rPr lang="en-US" sz="1900" dirty="0">
                <a:ea typeface="+mn-lt"/>
                <a:cs typeface="+mn-lt"/>
              </a:rPr>
              <a:t>Dive into the NYC311 Customer Service Request Analysis dataset – a treasure trove of insights capturing the pulse of New York City's urban challenges. From noise complaints to street maintenance, this dataset offers a window into the city's service requests, unveiling trends that shape its dynamic urban landscape. It comes with around 33 million rows and 52 columns and is updated daily. The NYC311 Customer Service Request Analysis dataset is created and maintained by the City of New York. </a:t>
            </a:r>
            <a:endParaRPr lang="en-US" sz="1900" dirty="0">
              <a:ea typeface="Calibri" panose="020F0502020204030204"/>
              <a:cs typeface="Calibri" panose="020F0502020204030204"/>
            </a:endParaRPr>
          </a:p>
        </p:txBody>
      </p:sp>
      <p:pic>
        <p:nvPicPr>
          <p:cNvPr id="5" name="Picture 4" descr="Busy zebra crossing in city">
            <a:extLst>
              <a:ext uri="{FF2B5EF4-FFF2-40B4-BE49-F238E27FC236}">
                <a16:creationId xmlns:a16="http://schemas.microsoft.com/office/drawing/2014/main" id="{AB2B7F8D-20FC-CC4E-2A12-128DFEC25C00}"/>
              </a:ext>
            </a:extLst>
          </p:cNvPr>
          <p:cNvPicPr>
            <a:picLocks noChangeAspect="1"/>
          </p:cNvPicPr>
          <p:nvPr/>
        </p:nvPicPr>
        <p:blipFill rotWithShape="1">
          <a:blip r:embed="rId2"/>
          <a:srcRect l="3524" r="29737" b="3"/>
          <a:stretch/>
        </p:blipFill>
        <p:spPr>
          <a:xfrm>
            <a:off x="6096000" y="1"/>
            <a:ext cx="6102825" cy="6858000"/>
          </a:xfrm>
          <a:prstGeom prst="rect">
            <a:avLst/>
          </a:prstGeom>
        </p:spPr>
      </p:pic>
    </p:spTree>
    <p:extLst>
      <p:ext uri="{BB962C8B-B14F-4D97-AF65-F5344CB8AC3E}">
        <p14:creationId xmlns:p14="http://schemas.microsoft.com/office/powerpoint/2010/main" val="3627701377"/>
      </p:ext>
    </p:extLst>
  </p:cSld>
  <p:clrMapOvr>
    <a:masterClrMapping/>
  </p:clrMapOvr>
  <mc:AlternateContent xmlns:mc="http://schemas.openxmlformats.org/markup-compatibility/2006">
    <mc:Choice xmlns:p14="http://schemas.microsoft.com/office/powerpoint/2010/main" Requires="p14">
      <p:transition spd="slow" p14:dur="2000" advTm="4632"/>
    </mc:Choice>
    <mc:Fallback>
      <p:transition spd="slow" advTm="4632"/>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2B848-25C0-CAAE-57C4-4F51CD0B0449}"/>
              </a:ext>
            </a:extLst>
          </p:cNvPr>
          <p:cNvSpPr>
            <a:spLocks noGrp="1"/>
          </p:cNvSpPr>
          <p:nvPr>
            <p:ph type="title"/>
          </p:nvPr>
        </p:nvSpPr>
        <p:spPr/>
        <p:txBody>
          <a:bodyPr/>
          <a:lstStyle/>
          <a:p>
            <a:r>
              <a:rPr lang="en-US" dirty="0">
                <a:ea typeface="Calibri Light"/>
                <a:cs typeface="Calibri Light"/>
              </a:rPr>
              <a:t>EDA</a:t>
            </a:r>
            <a:endParaRPr lang="en-US" dirty="0"/>
          </a:p>
        </p:txBody>
      </p:sp>
      <p:pic>
        <p:nvPicPr>
          <p:cNvPr id="4" name="Content Placeholder 3">
            <a:extLst>
              <a:ext uri="{FF2B5EF4-FFF2-40B4-BE49-F238E27FC236}">
                <a16:creationId xmlns:a16="http://schemas.microsoft.com/office/drawing/2014/main" id="{E6C610AE-72E3-12D4-D561-7240416A06FE}"/>
              </a:ext>
            </a:extLst>
          </p:cNvPr>
          <p:cNvPicPr>
            <a:picLocks noGrp="1" noChangeAspect="1"/>
          </p:cNvPicPr>
          <p:nvPr>
            <p:ph idx="1"/>
          </p:nvPr>
        </p:nvPicPr>
        <p:blipFill>
          <a:blip r:embed="rId2"/>
          <a:stretch>
            <a:fillRect/>
          </a:stretch>
        </p:blipFill>
        <p:spPr>
          <a:xfrm>
            <a:off x="969836" y="1473059"/>
            <a:ext cx="9786029" cy="5022352"/>
          </a:xfrm>
        </p:spPr>
      </p:pic>
    </p:spTree>
    <p:extLst>
      <p:ext uri="{BB962C8B-B14F-4D97-AF65-F5344CB8AC3E}">
        <p14:creationId xmlns:p14="http://schemas.microsoft.com/office/powerpoint/2010/main" val="13739702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a:extLst>
              <a:ext uri="{FF2B5EF4-FFF2-40B4-BE49-F238E27FC236}">
                <a16:creationId xmlns:a16="http://schemas.microsoft.com/office/drawing/2014/main" id="{2E7EFB1A-CD84-B1A1-DCE2-81CFA597AA08}"/>
              </a:ext>
            </a:extLst>
          </p:cNvPr>
          <p:cNvPicPr>
            <a:picLocks noGrp="1" noChangeAspect="1"/>
          </p:cNvPicPr>
          <p:nvPr>
            <p:ph idx="1"/>
          </p:nvPr>
        </p:nvPicPr>
        <p:blipFill>
          <a:blip r:embed="rId2"/>
          <a:stretch>
            <a:fillRect/>
          </a:stretch>
        </p:blipFill>
        <p:spPr>
          <a:xfrm>
            <a:off x="1048991" y="199268"/>
            <a:ext cx="9502618" cy="6466741"/>
          </a:xfrm>
        </p:spPr>
      </p:pic>
    </p:spTree>
    <p:extLst>
      <p:ext uri="{BB962C8B-B14F-4D97-AF65-F5344CB8AC3E}">
        <p14:creationId xmlns:p14="http://schemas.microsoft.com/office/powerpoint/2010/main" val="36314248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pie chart with different colored circles&#10;&#10;Description automatically generated">
            <a:extLst>
              <a:ext uri="{FF2B5EF4-FFF2-40B4-BE49-F238E27FC236}">
                <a16:creationId xmlns:a16="http://schemas.microsoft.com/office/drawing/2014/main" id="{14BEC1A9-D9BB-C4EB-6534-86990DA6CF18}"/>
              </a:ext>
            </a:extLst>
          </p:cNvPr>
          <p:cNvPicPr>
            <a:picLocks noGrp="1" noChangeAspect="1"/>
          </p:cNvPicPr>
          <p:nvPr>
            <p:ph idx="1"/>
          </p:nvPr>
        </p:nvPicPr>
        <p:blipFill>
          <a:blip r:embed="rId2"/>
          <a:stretch>
            <a:fillRect/>
          </a:stretch>
        </p:blipFill>
        <p:spPr>
          <a:xfrm>
            <a:off x="2587771" y="199267"/>
            <a:ext cx="8005918" cy="6182412"/>
          </a:xfrm>
        </p:spPr>
      </p:pic>
    </p:spTree>
    <p:extLst>
      <p:ext uri="{BB962C8B-B14F-4D97-AF65-F5344CB8AC3E}">
        <p14:creationId xmlns:p14="http://schemas.microsoft.com/office/powerpoint/2010/main" val="36586679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graph of different colored squares&#10;&#10;Description automatically generated">
            <a:extLst>
              <a:ext uri="{FF2B5EF4-FFF2-40B4-BE49-F238E27FC236}">
                <a16:creationId xmlns:a16="http://schemas.microsoft.com/office/drawing/2014/main" id="{4C6B760E-E48B-74A7-3F85-F2A19FCE3231}"/>
              </a:ext>
            </a:extLst>
          </p:cNvPr>
          <p:cNvPicPr>
            <a:picLocks noChangeAspect="1"/>
          </p:cNvPicPr>
          <p:nvPr/>
        </p:nvPicPr>
        <p:blipFill>
          <a:blip r:embed="rId2"/>
          <a:stretch>
            <a:fillRect/>
          </a:stretch>
        </p:blipFill>
        <p:spPr>
          <a:xfrm>
            <a:off x="1571297" y="330878"/>
            <a:ext cx="8655268" cy="6472140"/>
          </a:xfrm>
          <a:prstGeom prst="rect">
            <a:avLst/>
          </a:prstGeom>
        </p:spPr>
      </p:pic>
    </p:spTree>
    <p:extLst>
      <p:ext uri="{BB962C8B-B14F-4D97-AF65-F5344CB8AC3E}">
        <p14:creationId xmlns:p14="http://schemas.microsoft.com/office/powerpoint/2010/main" val="33671141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B713C77-1647-A7A2-3408-D942AE03CE5A}"/>
              </a:ext>
            </a:extLst>
          </p:cNvPr>
          <p:cNvPicPr>
            <a:picLocks noChangeAspect="1"/>
          </p:cNvPicPr>
          <p:nvPr/>
        </p:nvPicPr>
        <p:blipFill>
          <a:blip r:embed="rId2"/>
          <a:stretch>
            <a:fillRect/>
          </a:stretch>
        </p:blipFill>
        <p:spPr>
          <a:xfrm>
            <a:off x="1768365" y="396567"/>
            <a:ext cx="8445060" cy="6314485"/>
          </a:xfrm>
          <a:prstGeom prst="rect">
            <a:avLst/>
          </a:prstGeom>
        </p:spPr>
      </p:pic>
    </p:spTree>
    <p:extLst>
      <p:ext uri="{BB962C8B-B14F-4D97-AF65-F5344CB8AC3E}">
        <p14:creationId xmlns:p14="http://schemas.microsoft.com/office/powerpoint/2010/main" val="5060259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graph of different colored squares&#10;&#10;Description automatically generated">
            <a:extLst>
              <a:ext uri="{FF2B5EF4-FFF2-40B4-BE49-F238E27FC236}">
                <a16:creationId xmlns:a16="http://schemas.microsoft.com/office/drawing/2014/main" id="{761ED768-416C-1B13-6E67-C224ECCABF10}"/>
              </a:ext>
            </a:extLst>
          </p:cNvPr>
          <p:cNvPicPr>
            <a:picLocks noChangeAspect="1"/>
          </p:cNvPicPr>
          <p:nvPr/>
        </p:nvPicPr>
        <p:blipFill>
          <a:blip r:embed="rId2"/>
          <a:stretch>
            <a:fillRect/>
          </a:stretch>
        </p:blipFill>
        <p:spPr>
          <a:xfrm>
            <a:off x="1492469" y="271579"/>
            <a:ext cx="8944302" cy="6695842"/>
          </a:xfrm>
          <a:prstGeom prst="rect">
            <a:avLst/>
          </a:prstGeom>
        </p:spPr>
      </p:pic>
    </p:spTree>
    <p:extLst>
      <p:ext uri="{BB962C8B-B14F-4D97-AF65-F5344CB8AC3E}">
        <p14:creationId xmlns:p14="http://schemas.microsoft.com/office/powerpoint/2010/main" val="39229121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10;&#10;Description automatically generated">
            <a:extLst>
              <a:ext uri="{FF2B5EF4-FFF2-40B4-BE49-F238E27FC236}">
                <a16:creationId xmlns:a16="http://schemas.microsoft.com/office/drawing/2014/main" id="{C00EDD2E-DE5F-6E49-5D0B-712E17C5E467}"/>
              </a:ext>
            </a:extLst>
          </p:cNvPr>
          <p:cNvPicPr>
            <a:picLocks noChangeAspect="1"/>
          </p:cNvPicPr>
          <p:nvPr/>
        </p:nvPicPr>
        <p:blipFill>
          <a:blip r:embed="rId2"/>
          <a:stretch>
            <a:fillRect/>
          </a:stretch>
        </p:blipFill>
        <p:spPr>
          <a:xfrm>
            <a:off x="257504" y="529590"/>
            <a:ext cx="11532474" cy="5798821"/>
          </a:xfrm>
          <a:prstGeom prst="rect">
            <a:avLst/>
          </a:prstGeom>
        </p:spPr>
      </p:pic>
    </p:spTree>
    <p:extLst>
      <p:ext uri="{BB962C8B-B14F-4D97-AF65-F5344CB8AC3E}">
        <p14:creationId xmlns:p14="http://schemas.microsoft.com/office/powerpoint/2010/main" val="350373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graph&#10;&#10;Description automatically generated">
            <a:extLst>
              <a:ext uri="{FF2B5EF4-FFF2-40B4-BE49-F238E27FC236}">
                <a16:creationId xmlns:a16="http://schemas.microsoft.com/office/drawing/2014/main" id="{F4B4CBFD-F27A-9DEC-3848-FAB76C625276}"/>
              </a:ext>
            </a:extLst>
          </p:cNvPr>
          <p:cNvPicPr>
            <a:picLocks noChangeAspect="1"/>
          </p:cNvPicPr>
          <p:nvPr/>
        </p:nvPicPr>
        <p:blipFill>
          <a:blip r:embed="rId2"/>
          <a:stretch>
            <a:fillRect/>
          </a:stretch>
        </p:blipFill>
        <p:spPr>
          <a:xfrm>
            <a:off x="1164020" y="258440"/>
            <a:ext cx="9049405" cy="6603877"/>
          </a:xfrm>
          <a:prstGeom prst="rect">
            <a:avLst/>
          </a:prstGeom>
        </p:spPr>
      </p:pic>
    </p:spTree>
    <p:extLst>
      <p:ext uri="{BB962C8B-B14F-4D97-AF65-F5344CB8AC3E}">
        <p14:creationId xmlns:p14="http://schemas.microsoft.com/office/powerpoint/2010/main" val="14399576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graph of different colored squares&#10;&#10;Description automatically generated">
            <a:extLst>
              <a:ext uri="{FF2B5EF4-FFF2-40B4-BE49-F238E27FC236}">
                <a16:creationId xmlns:a16="http://schemas.microsoft.com/office/drawing/2014/main" id="{9DDFEFA9-314F-015E-AA27-83E52936A45C}"/>
              </a:ext>
            </a:extLst>
          </p:cNvPr>
          <p:cNvPicPr>
            <a:picLocks noChangeAspect="1"/>
          </p:cNvPicPr>
          <p:nvPr/>
        </p:nvPicPr>
        <p:blipFill>
          <a:blip r:embed="rId2"/>
          <a:stretch>
            <a:fillRect/>
          </a:stretch>
        </p:blipFill>
        <p:spPr>
          <a:xfrm>
            <a:off x="585951" y="392307"/>
            <a:ext cx="10547130" cy="6375557"/>
          </a:xfrm>
          <a:prstGeom prst="rect">
            <a:avLst/>
          </a:prstGeom>
        </p:spPr>
      </p:pic>
    </p:spTree>
    <p:extLst>
      <p:ext uri="{BB962C8B-B14F-4D97-AF65-F5344CB8AC3E}">
        <p14:creationId xmlns:p14="http://schemas.microsoft.com/office/powerpoint/2010/main" val="22886035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graph with different colored bars&#10;&#10;Description automatically generated">
            <a:extLst>
              <a:ext uri="{FF2B5EF4-FFF2-40B4-BE49-F238E27FC236}">
                <a16:creationId xmlns:a16="http://schemas.microsoft.com/office/drawing/2014/main" id="{1F59275B-9DC4-4885-F7EA-E24A7CB23538}"/>
              </a:ext>
            </a:extLst>
          </p:cNvPr>
          <p:cNvPicPr>
            <a:picLocks noChangeAspect="1"/>
          </p:cNvPicPr>
          <p:nvPr/>
        </p:nvPicPr>
        <p:blipFill>
          <a:blip r:embed="rId2"/>
          <a:stretch>
            <a:fillRect/>
          </a:stretch>
        </p:blipFill>
        <p:spPr>
          <a:xfrm>
            <a:off x="730469" y="309714"/>
            <a:ext cx="11006958" cy="6553881"/>
          </a:xfrm>
          <a:prstGeom prst="rect">
            <a:avLst/>
          </a:prstGeom>
        </p:spPr>
      </p:pic>
    </p:spTree>
    <p:extLst>
      <p:ext uri="{BB962C8B-B14F-4D97-AF65-F5344CB8AC3E}">
        <p14:creationId xmlns:p14="http://schemas.microsoft.com/office/powerpoint/2010/main" val="8460466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E18248-1AD2-B8DB-C244-67188095B9B6}"/>
              </a:ext>
            </a:extLst>
          </p:cNvPr>
          <p:cNvSpPr>
            <a:spLocks noGrp="1"/>
          </p:cNvSpPr>
          <p:nvPr>
            <p:ph type="title"/>
          </p:nvPr>
        </p:nvSpPr>
        <p:spPr/>
        <p:txBody>
          <a:bodyPr>
            <a:normAutofit/>
          </a:bodyPr>
          <a:lstStyle/>
          <a:p>
            <a:r>
              <a:rPr lang="en-US" sz="5400" dirty="0">
                <a:latin typeface="Calibri"/>
                <a:ea typeface="Calibri"/>
                <a:cs typeface="Calibri"/>
              </a:rPr>
              <a:t>Proposed solution</a:t>
            </a:r>
            <a:endParaRPr lang="en-US" sz="5400">
              <a:latin typeface="Calibri"/>
              <a:ea typeface="Calibri Light"/>
              <a:cs typeface="Calibri Light"/>
            </a:endParaRPr>
          </a:p>
        </p:txBody>
      </p:sp>
      <p:sp>
        <p:nvSpPr>
          <p:cNvPr id="3" name="Content Placeholder 2">
            <a:extLst>
              <a:ext uri="{FF2B5EF4-FFF2-40B4-BE49-F238E27FC236}">
                <a16:creationId xmlns:a16="http://schemas.microsoft.com/office/drawing/2014/main" id="{ECCEA05F-78E6-FEE1-1A1B-5177B4B148C4}"/>
              </a:ext>
            </a:extLst>
          </p:cNvPr>
          <p:cNvSpPr>
            <a:spLocks noGrp="1"/>
          </p:cNvSpPr>
          <p:nvPr>
            <p:ph idx="1"/>
          </p:nvPr>
        </p:nvSpPr>
        <p:spPr>
          <a:xfrm>
            <a:off x="838200" y="1300108"/>
            <a:ext cx="10515600" cy="5192165"/>
          </a:xfrm>
        </p:spPr>
        <p:txBody>
          <a:bodyPr vert="horz" lIns="91440" tIns="45720" rIns="91440" bIns="45720" rtlCol="0" anchor="t">
            <a:noAutofit/>
          </a:bodyPr>
          <a:lstStyle/>
          <a:p>
            <a:endParaRPr lang="en-US" sz="2400" dirty="0">
              <a:ea typeface="Calibri" panose="020F0502020204030204"/>
              <a:cs typeface="Calibri" panose="020F0502020204030204"/>
            </a:endParaRPr>
          </a:p>
          <a:p>
            <a:pPr marL="0" indent="0">
              <a:buNone/>
            </a:pPr>
            <a:r>
              <a:rPr lang="en-US" sz="2400" dirty="0">
                <a:ea typeface="+mn-lt"/>
                <a:cs typeface="+mn-lt"/>
              </a:rPr>
              <a:t>To address the issue of high vehicle-related noise complaints during specific time intervals in different cities, here are four data-driven solutions that the mayor could consider:</a:t>
            </a:r>
          </a:p>
          <a:p>
            <a:pPr marL="0" indent="0">
              <a:buNone/>
            </a:pPr>
            <a:r>
              <a:rPr lang="en-US" sz="2400" b="1" dirty="0">
                <a:ea typeface="+mn-lt"/>
                <a:cs typeface="+mn-lt"/>
              </a:rPr>
              <a:t>Strategic Noise Patrols</a:t>
            </a:r>
            <a:r>
              <a:rPr lang="en-US" sz="2400" dirty="0">
                <a:ea typeface="+mn-lt"/>
                <a:cs typeface="+mn-lt"/>
              </a:rPr>
              <a:t>:</a:t>
            </a:r>
          </a:p>
          <a:p>
            <a:r>
              <a:rPr lang="en-US" sz="2400" dirty="0">
                <a:ea typeface="+mn-lt"/>
                <a:cs typeface="+mn-lt"/>
              </a:rPr>
              <a:t>Deploy law enforcement officers and noise control teams during the identified peak hours (12 am to 4 am) in areas with frequent complaints. Utilize historical complaint data to prioritize patrolling routes and allocate resources effectively.</a:t>
            </a:r>
          </a:p>
          <a:p>
            <a:pPr marL="0" indent="0">
              <a:buNone/>
            </a:pPr>
            <a:r>
              <a:rPr lang="en-US" sz="2400" b="1" dirty="0">
                <a:ea typeface="+mn-lt"/>
                <a:cs typeface="+mn-lt"/>
              </a:rPr>
              <a:t>Targeted Public Awareness Campaigns</a:t>
            </a:r>
            <a:r>
              <a:rPr lang="en-US" sz="2400" dirty="0">
                <a:ea typeface="+mn-lt"/>
                <a:cs typeface="+mn-lt"/>
              </a:rPr>
              <a:t>:</a:t>
            </a:r>
          </a:p>
          <a:p>
            <a:r>
              <a:rPr lang="en-US" sz="2400" dirty="0">
                <a:ea typeface="+mn-lt"/>
                <a:cs typeface="+mn-lt"/>
              </a:rPr>
              <a:t>Launch awareness campaigns to educate residents and businesses in the identified areas about noise regulations and courteous behavior during late-night hours. Use data insights to tailor campaign messages to each city's specific peak complaint times.</a:t>
            </a:r>
          </a:p>
          <a:p>
            <a:pPr marL="0" indent="0">
              <a:buNone/>
            </a:pPr>
            <a:endParaRPr lang="en-US" sz="2400" dirty="0">
              <a:ea typeface="+mn-lt"/>
              <a:cs typeface="+mn-lt"/>
            </a:endParaRPr>
          </a:p>
          <a:p>
            <a:endParaRPr lang="en-US" sz="2400" dirty="0">
              <a:ea typeface="Calibri"/>
              <a:cs typeface="Calibri"/>
            </a:endParaRPr>
          </a:p>
        </p:txBody>
      </p:sp>
    </p:spTree>
    <p:extLst>
      <p:ext uri="{BB962C8B-B14F-4D97-AF65-F5344CB8AC3E}">
        <p14:creationId xmlns:p14="http://schemas.microsoft.com/office/powerpoint/2010/main" val="37004076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42E3A-9674-AF85-D81A-0E33A34D937B}"/>
              </a:ext>
            </a:extLst>
          </p:cNvPr>
          <p:cNvSpPr>
            <a:spLocks noGrp="1"/>
          </p:cNvSpPr>
          <p:nvPr>
            <p:ph type="title"/>
          </p:nvPr>
        </p:nvSpPr>
        <p:spPr/>
        <p:txBody>
          <a:bodyPr/>
          <a:lstStyle/>
          <a:p>
            <a:r>
              <a:rPr lang="en-US" dirty="0">
                <a:ea typeface="Calibri Light"/>
                <a:cs typeface="Calibri Light"/>
              </a:rPr>
              <a:t>Cont. </a:t>
            </a:r>
            <a:endParaRPr lang="en-US" dirty="0"/>
          </a:p>
        </p:txBody>
      </p:sp>
      <p:sp>
        <p:nvSpPr>
          <p:cNvPr id="3" name="Content Placeholder 2">
            <a:extLst>
              <a:ext uri="{FF2B5EF4-FFF2-40B4-BE49-F238E27FC236}">
                <a16:creationId xmlns:a16="http://schemas.microsoft.com/office/drawing/2014/main" id="{5EC17E42-C234-76AF-03F8-D1977488AE28}"/>
              </a:ext>
            </a:extLst>
          </p:cNvPr>
          <p:cNvSpPr>
            <a:spLocks noGrp="1"/>
          </p:cNvSpPr>
          <p:nvPr>
            <p:ph idx="1"/>
          </p:nvPr>
        </p:nvSpPr>
        <p:spPr>
          <a:xfrm>
            <a:off x="838200" y="1549728"/>
            <a:ext cx="10515600" cy="4351338"/>
          </a:xfrm>
        </p:spPr>
        <p:txBody>
          <a:bodyPr vert="horz" lIns="91440" tIns="45720" rIns="91440" bIns="45720" rtlCol="0" anchor="t">
            <a:normAutofit fontScale="92500"/>
          </a:bodyPr>
          <a:lstStyle/>
          <a:p>
            <a:pPr marL="0" indent="0">
              <a:buNone/>
            </a:pPr>
            <a:r>
              <a:rPr lang="en-US" b="1" dirty="0">
                <a:ea typeface="Calibri"/>
                <a:cs typeface="Calibri"/>
              </a:rPr>
              <a:t>Technology-Enabled Noise Monitoring</a:t>
            </a:r>
            <a:r>
              <a:rPr lang="en-US" dirty="0">
                <a:ea typeface="Calibri"/>
                <a:cs typeface="Calibri"/>
              </a:rPr>
              <a:t>:</a:t>
            </a:r>
            <a:endParaRPr lang="en-US"/>
          </a:p>
          <a:p>
            <a:r>
              <a:rPr lang="en-US" dirty="0">
                <a:ea typeface="Calibri"/>
                <a:cs typeface="Calibri"/>
              </a:rPr>
              <a:t>Put up sensors in those noisy spots to track noise levels. If things get too loud, it'll send a signal to the right people to step in and address the issue.</a:t>
            </a:r>
          </a:p>
          <a:p>
            <a:pPr marL="0" indent="0">
              <a:buNone/>
            </a:pPr>
            <a:r>
              <a:rPr lang="en-US" b="1" dirty="0">
                <a:ea typeface="Calibri"/>
                <a:cs typeface="Calibri"/>
              </a:rPr>
              <a:t>Community Engagement and Reporting</a:t>
            </a:r>
            <a:r>
              <a:rPr lang="en-US" dirty="0">
                <a:ea typeface="Calibri"/>
                <a:cs typeface="Calibri"/>
              </a:rPr>
              <a:t>:</a:t>
            </a:r>
          </a:p>
          <a:p>
            <a:r>
              <a:rPr lang="en-US" dirty="0">
                <a:ea typeface="Calibri"/>
                <a:cs typeface="Calibri"/>
              </a:rPr>
              <a:t>Create an easy way for people to report noise complaints through a mobile app or website. This way, residents can quickly report the issue and help keep their neighborhoods peaceful.</a:t>
            </a:r>
          </a:p>
          <a:p>
            <a:pPr marL="0" indent="0">
              <a:buNone/>
            </a:pPr>
            <a:r>
              <a:rPr lang="en-US" dirty="0">
                <a:ea typeface="Calibri"/>
                <a:cs typeface="Calibri"/>
              </a:rPr>
              <a:t>By utilizing data-driven solutions, the mayor can not only address the issue of high vehicle-related noise complaints but also enhance overall quality of life for residents in these cities</a:t>
            </a:r>
          </a:p>
        </p:txBody>
      </p:sp>
    </p:spTree>
    <p:extLst>
      <p:ext uri="{BB962C8B-B14F-4D97-AF65-F5344CB8AC3E}">
        <p14:creationId xmlns:p14="http://schemas.microsoft.com/office/powerpoint/2010/main" val="41984695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graph with different colored bars&#10;&#10;Description automatically generated">
            <a:extLst>
              <a:ext uri="{FF2B5EF4-FFF2-40B4-BE49-F238E27FC236}">
                <a16:creationId xmlns:a16="http://schemas.microsoft.com/office/drawing/2014/main" id="{CB06A857-97A3-DB99-ACCE-C95D679D6DCA}"/>
              </a:ext>
            </a:extLst>
          </p:cNvPr>
          <p:cNvPicPr>
            <a:picLocks noChangeAspect="1"/>
          </p:cNvPicPr>
          <p:nvPr/>
        </p:nvPicPr>
        <p:blipFill>
          <a:blip r:embed="rId2"/>
          <a:stretch>
            <a:fillRect/>
          </a:stretch>
        </p:blipFill>
        <p:spPr>
          <a:xfrm>
            <a:off x="257504" y="366204"/>
            <a:ext cx="11020096" cy="6243833"/>
          </a:xfrm>
          <a:prstGeom prst="rect">
            <a:avLst/>
          </a:prstGeom>
        </p:spPr>
      </p:pic>
    </p:spTree>
    <p:extLst>
      <p:ext uri="{BB962C8B-B14F-4D97-AF65-F5344CB8AC3E}">
        <p14:creationId xmlns:p14="http://schemas.microsoft.com/office/powerpoint/2010/main" val="38785469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40AC3-446A-51BC-53E0-169F6020C3B6}"/>
              </a:ext>
            </a:extLst>
          </p:cNvPr>
          <p:cNvSpPr>
            <a:spLocks noGrp="1"/>
          </p:cNvSpPr>
          <p:nvPr>
            <p:ph type="title"/>
          </p:nvPr>
        </p:nvSpPr>
        <p:spPr/>
        <p:txBody>
          <a:bodyPr/>
          <a:lstStyle/>
          <a:p>
            <a:r>
              <a:rPr lang="en-US" sz="5400" dirty="0">
                <a:latin typeface="Calibri"/>
                <a:ea typeface="Calibri"/>
                <a:cs typeface="Calibri"/>
              </a:rPr>
              <a:t>Proposed solution</a:t>
            </a:r>
          </a:p>
          <a:p>
            <a:endParaRPr lang="en-US" dirty="0">
              <a:ea typeface="Calibri Light"/>
              <a:cs typeface="Calibri Light"/>
            </a:endParaRPr>
          </a:p>
        </p:txBody>
      </p:sp>
      <p:sp>
        <p:nvSpPr>
          <p:cNvPr id="3" name="Content Placeholder 2">
            <a:extLst>
              <a:ext uri="{FF2B5EF4-FFF2-40B4-BE49-F238E27FC236}">
                <a16:creationId xmlns:a16="http://schemas.microsoft.com/office/drawing/2014/main" id="{235D57A0-CAB6-4A91-31E2-FE39C6B0B045}"/>
              </a:ext>
            </a:extLst>
          </p:cNvPr>
          <p:cNvSpPr>
            <a:spLocks noGrp="1"/>
          </p:cNvSpPr>
          <p:nvPr>
            <p:ph idx="1"/>
          </p:nvPr>
        </p:nvSpPr>
        <p:spPr>
          <a:xfrm>
            <a:off x="838200" y="1155590"/>
            <a:ext cx="10515600" cy="5481200"/>
          </a:xfrm>
        </p:spPr>
        <p:txBody>
          <a:bodyPr vert="horz" lIns="91440" tIns="45720" rIns="91440" bIns="45720" rtlCol="0" anchor="t">
            <a:noAutofit/>
          </a:bodyPr>
          <a:lstStyle/>
          <a:p>
            <a:pPr marL="0" indent="0">
              <a:buNone/>
            </a:pPr>
            <a:r>
              <a:rPr lang="en-US" dirty="0">
                <a:ea typeface="+mn-lt"/>
                <a:cs typeface="+mn-lt"/>
              </a:rPr>
              <a:t>The data-driven solutions that the mayor could consider to tackle the issue of high commercial-related noise complaints during the early hours (12 am to 4 am) in different neighborhoods:</a:t>
            </a:r>
            <a:endParaRPr lang="en-US" dirty="0">
              <a:ea typeface="Calibri" panose="020F0502020204030204"/>
              <a:cs typeface="Calibri" panose="020F0502020204030204"/>
            </a:endParaRPr>
          </a:p>
          <a:p>
            <a:pPr marL="0" indent="0">
              <a:buNone/>
            </a:pPr>
            <a:r>
              <a:rPr lang="en-US" b="1" dirty="0">
                <a:ea typeface="+mn-lt"/>
                <a:cs typeface="+mn-lt"/>
              </a:rPr>
              <a:t>Time-Dependent Zoning Regulations</a:t>
            </a:r>
            <a:r>
              <a:rPr lang="en-US" dirty="0">
                <a:ea typeface="+mn-lt"/>
                <a:cs typeface="+mn-lt"/>
              </a:rPr>
              <a:t>:</a:t>
            </a:r>
            <a:endParaRPr lang="en-US" dirty="0">
              <a:ea typeface="Calibri"/>
              <a:cs typeface="Calibri"/>
            </a:endParaRPr>
          </a:p>
          <a:p>
            <a:r>
              <a:rPr lang="en-US" dirty="0">
                <a:ea typeface="+mn-lt"/>
                <a:cs typeface="+mn-lt"/>
              </a:rPr>
              <a:t>Implement stricter zoning regulations that limit commercial activities during the late-night hours. By restricting certain noisy activities during these times, you can help reduce the disturbance caused by commercial-related noise complaints.</a:t>
            </a:r>
            <a:endParaRPr lang="en-US" dirty="0">
              <a:ea typeface="Calibri"/>
              <a:cs typeface="Calibri"/>
            </a:endParaRPr>
          </a:p>
          <a:p>
            <a:pPr marL="0" indent="0">
              <a:buNone/>
            </a:pPr>
            <a:r>
              <a:rPr lang="en-US" b="1" dirty="0">
                <a:ea typeface="+mn-lt"/>
                <a:cs typeface="+mn-lt"/>
              </a:rPr>
              <a:t>Noise Monitoring and Alerts</a:t>
            </a:r>
            <a:r>
              <a:rPr lang="en-US" dirty="0">
                <a:ea typeface="+mn-lt"/>
                <a:cs typeface="+mn-lt"/>
              </a:rPr>
              <a:t>:</a:t>
            </a:r>
            <a:endParaRPr lang="en-US" dirty="0">
              <a:ea typeface="Calibri"/>
              <a:cs typeface="Calibri"/>
            </a:endParaRPr>
          </a:p>
          <a:p>
            <a:r>
              <a:rPr lang="en-US" dirty="0">
                <a:ea typeface="+mn-lt"/>
                <a:cs typeface="+mn-lt"/>
              </a:rPr>
              <a:t>Install noise sensors in commercial areas that tend to have high complaint rates. These sensors can detect excessive noise levels and automatically notify business owners when they're getting too loud, allowing them to take corrective measures.</a:t>
            </a:r>
            <a:endParaRPr lang="en-US" dirty="0">
              <a:ea typeface="Calibri"/>
              <a:cs typeface="Calibri"/>
            </a:endParaRPr>
          </a:p>
          <a:p>
            <a:endParaRPr lang="en-US" dirty="0">
              <a:ea typeface="Calibri"/>
              <a:cs typeface="Calibri"/>
            </a:endParaRPr>
          </a:p>
          <a:p>
            <a:endParaRPr lang="en-US" dirty="0">
              <a:ea typeface="Calibri"/>
              <a:cs typeface="Calibri"/>
            </a:endParaRPr>
          </a:p>
        </p:txBody>
      </p:sp>
    </p:spTree>
    <p:extLst>
      <p:ext uri="{BB962C8B-B14F-4D97-AF65-F5344CB8AC3E}">
        <p14:creationId xmlns:p14="http://schemas.microsoft.com/office/powerpoint/2010/main" val="3129688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0A7213-97D3-196D-6B22-6913CE0298F5}"/>
              </a:ext>
            </a:extLst>
          </p:cNvPr>
          <p:cNvSpPr>
            <a:spLocks noGrp="1"/>
          </p:cNvSpPr>
          <p:nvPr>
            <p:ph type="title"/>
          </p:nvPr>
        </p:nvSpPr>
        <p:spPr/>
        <p:txBody>
          <a:bodyPr/>
          <a:lstStyle/>
          <a:p>
            <a:r>
              <a:rPr lang="en-US" dirty="0">
                <a:ea typeface="Calibri Light"/>
                <a:cs typeface="Calibri Light"/>
              </a:rPr>
              <a:t>Cont. </a:t>
            </a:r>
            <a:endParaRPr lang="en-US" dirty="0"/>
          </a:p>
        </p:txBody>
      </p:sp>
      <p:sp>
        <p:nvSpPr>
          <p:cNvPr id="3" name="Content Placeholder 2">
            <a:extLst>
              <a:ext uri="{FF2B5EF4-FFF2-40B4-BE49-F238E27FC236}">
                <a16:creationId xmlns:a16="http://schemas.microsoft.com/office/drawing/2014/main" id="{6812A795-413E-72D0-5F65-2859439BD67A}"/>
              </a:ext>
            </a:extLst>
          </p:cNvPr>
          <p:cNvSpPr>
            <a:spLocks noGrp="1"/>
          </p:cNvSpPr>
          <p:nvPr>
            <p:ph idx="1"/>
          </p:nvPr>
        </p:nvSpPr>
        <p:spPr/>
        <p:txBody>
          <a:bodyPr vert="horz" lIns="91440" tIns="45720" rIns="91440" bIns="45720" rtlCol="0" anchor="t">
            <a:normAutofit/>
          </a:bodyPr>
          <a:lstStyle/>
          <a:p>
            <a:pPr marL="0" indent="0">
              <a:buNone/>
            </a:pPr>
            <a:r>
              <a:rPr lang="en-US" b="1" dirty="0">
                <a:ea typeface="Calibri"/>
                <a:cs typeface="Calibri"/>
              </a:rPr>
              <a:t>Friendly Business Pacts</a:t>
            </a:r>
            <a:r>
              <a:rPr lang="en-US" dirty="0">
                <a:ea typeface="Calibri"/>
                <a:cs typeface="Calibri"/>
              </a:rPr>
              <a:t>:</a:t>
            </a:r>
            <a:endParaRPr lang="en-US"/>
          </a:p>
          <a:p>
            <a:r>
              <a:rPr lang="en-US" dirty="0">
                <a:ea typeface="Calibri"/>
                <a:cs typeface="Calibri"/>
              </a:rPr>
              <a:t>Team up with local businesses to find ways they can keep things quieter at night. Maybe they can agree to tone down their noise or switch to quieter equipment during those late hours.</a:t>
            </a:r>
          </a:p>
          <a:p>
            <a:r>
              <a:rPr lang="en-US" dirty="0">
                <a:ea typeface="Calibri"/>
                <a:cs typeface="Calibri"/>
              </a:rPr>
              <a:t>These down-to-earth ideas could help make the nights a lot more peaceful for everyone in the neighborhood.</a:t>
            </a:r>
            <a:endParaRPr lang="en-US" dirty="0"/>
          </a:p>
        </p:txBody>
      </p:sp>
    </p:spTree>
    <p:extLst>
      <p:ext uri="{BB962C8B-B14F-4D97-AF65-F5344CB8AC3E}">
        <p14:creationId xmlns:p14="http://schemas.microsoft.com/office/powerpoint/2010/main" val="40517357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E39BA-3581-2D3A-EF74-68CD766CCEFC}"/>
              </a:ext>
            </a:extLst>
          </p:cNvPr>
          <p:cNvSpPr>
            <a:spLocks noGrp="1"/>
          </p:cNvSpPr>
          <p:nvPr>
            <p:ph type="title"/>
          </p:nvPr>
        </p:nvSpPr>
        <p:spPr/>
        <p:txBody>
          <a:bodyPr>
            <a:normAutofit fontScale="90000"/>
          </a:bodyPr>
          <a:lstStyle/>
          <a:p>
            <a:br>
              <a:rPr lang="en-US" sz="5400" dirty="0">
                <a:latin typeface="Calibri"/>
              </a:rPr>
            </a:br>
            <a:r>
              <a:rPr lang="en-US" sz="5400" dirty="0">
                <a:latin typeface="Calibri"/>
                <a:ea typeface="Calibri"/>
                <a:cs typeface="Calibri"/>
              </a:rPr>
              <a:t>Conclusion:</a:t>
            </a:r>
          </a:p>
          <a:p>
            <a:endParaRPr lang="en-US" sz="5400" dirty="0">
              <a:latin typeface="Calibri"/>
              <a:ea typeface="Calibri Light"/>
              <a:cs typeface="Calibri Light"/>
            </a:endParaRPr>
          </a:p>
        </p:txBody>
      </p:sp>
      <p:sp>
        <p:nvSpPr>
          <p:cNvPr id="3" name="Content Placeholder 2">
            <a:extLst>
              <a:ext uri="{FF2B5EF4-FFF2-40B4-BE49-F238E27FC236}">
                <a16:creationId xmlns:a16="http://schemas.microsoft.com/office/drawing/2014/main" id="{488B1CF4-6CF6-4717-9917-32A60E2573A7}"/>
              </a:ext>
            </a:extLst>
          </p:cNvPr>
          <p:cNvSpPr>
            <a:spLocks noGrp="1"/>
          </p:cNvSpPr>
          <p:nvPr>
            <p:ph idx="1"/>
          </p:nvPr>
        </p:nvSpPr>
        <p:spPr/>
        <p:txBody>
          <a:bodyPr vert="horz" lIns="91440" tIns="45720" rIns="91440" bIns="45720" rtlCol="0" anchor="t">
            <a:noAutofit/>
          </a:bodyPr>
          <a:lstStyle/>
          <a:p>
            <a:pPr marL="0" indent="0" algn="just">
              <a:buNone/>
            </a:pPr>
            <a:r>
              <a:rPr lang="en-US" sz="2400" dirty="0">
                <a:ea typeface="+mn-lt"/>
                <a:cs typeface="+mn-lt"/>
              </a:rPr>
              <a:t>Data-driven strategies have emerged as powerful tools for tackling real-world challenges across various domains. By harnessing the wealth of information available through advanced data analytics, decision-makers can make informed and effective choices to address complex issues. These strategies enable evidence-based decision-making, leading to improved resource allocation, enhanced problem-solving, and targeted interventions. As demonstrated in various sectors, such as healthcare (Smith et al., 2020), urban planning (Batty, 2013), and environmental management (Turner et al., 2015), data-driven approaches provide insights that were previously inaccessible, driving innovation and progress. Through a synergy of data, technology, and informed decision-making, data-driven strategies offer transformative solutions to pressing challenges.</a:t>
            </a:r>
            <a:endParaRPr lang="en-US" sz="2400">
              <a:ea typeface="Calibri"/>
              <a:cs typeface="Calibri"/>
            </a:endParaRPr>
          </a:p>
        </p:txBody>
      </p:sp>
    </p:spTree>
    <p:extLst>
      <p:ext uri="{BB962C8B-B14F-4D97-AF65-F5344CB8AC3E}">
        <p14:creationId xmlns:p14="http://schemas.microsoft.com/office/powerpoint/2010/main" val="1289337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2A161-FC3C-E6DC-5270-05BBAE02C227}"/>
              </a:ext>
            </a:extLst>
          </p:cNvPr>
          <p:cNvSpPr>
            <a:spLocks noGrp="1"/>
          </p:cNvSpPr>
          <p:nvPr>
            <p:ph type="title"/>
          </p:nvPr>
        </p:nvSpPr>
        <p:spPr>
          <a:xfrm>
            <a:off x="772510" y="-2737"/>
            <a:ext cx="10515600" cy="1325563"/>
          </a:xfrm>
        </p:spPr>
        <p:txBody>
          <a:bodyPr>
            <a:normAutofit/>
          </a:bodyPr>
          <a:lstStyle/>
          <a:p>
            <a:r>
              <a:rPr lang="en-US" sz="5400" dirty="0">
                <a:latin typeface="Calibri"/>
                <a:ea typeface="Calibri"/>
                <a:cs typeface="Calibri"/>
              </a:rPr>
              <a:t>References</a:t>
            </a:r>
            <a:endParaRPr lang="en-US" sz="5400" dirty="0">
              <a:ea typeface="Calibri Light"/>
              <a:cs typeface="Calibri Light"/>
            </a:endParaRPr>
          </a:p>
        </p:txBody>
      </p:sp>
      <p:sp>
        <p:nvSpPr>
          <p:cNvPr id="3" name="Content Placeholder 2">
            <a:extLst>
              <a:ext uri="{FF2B5EF4-FFF2-40B4-BE49-F238E27FC236}">
                <a16:creationId xmlns:a16="http://schemas.microsoft.com/office/drawing/2014/main" id="{C108B49E-129D-C6F3-81D5-57B589B885C9}"/>
              </a:ext>
            </a:extLst>
          </p:cNvPr>
          <p:cNvSpPr>
            <a:spLocks noGrp="1"/>
          </p:cNvSpPr>
          <p:nvPr>
            <p:ph idx="1"/>
          </p:nvPr>
        </p:nvSpPr>
        <p:spPr>
          <a:xfrm>
            <a:off x="838200" y="866557"/>
            <a:ext cx="10515600" cy="6282612"/>
          </a:xfrm>
        </p:spPr>
        <p:txBody>
          <a:bodyPr vert="horz" lIns="91440" tIns="45720" rIns="91440" bIns="45720" rtlCol="0" anchor="t">
            <a:noAutofit/>
          </a:bodyPr>
          <a:lstStyle/>
          <a:p>
            <a:pPr algn="ctr"/>
            <a:endParaRPr lang="en-US" sz="2400" dirty="0">
              <a:ea typeface="Calibri" panose="020F0502020204030204"/>
              <a:cs typeface="Calibri" panose="020F0502020204030204"/>
            </a:endParaRPr>
          </a:p>
          <a:p>
            <a:pPr marL="0" indent="0">
              <a:buNone/>
            </a:pPr>
            <a:r>
              <a:rPr lang="en-US" sz="2400" dirty="0">
                <a:latin typeface="Georgia"/>
              </a:rPr>
              <a:t>Batty, M. (2013). Big data, smart cities and city planning. </a:t>
            </a:r>
            <a:r>
              <a:rPr lang="en-US" sz="2400" i="1" dirty="0">
                <a:latin typeface="Georgia"/>
              </a:rPr>
              <a:t>Dialogues in Human Geography</a:t>
            </a:r>
            <a:r>
              <a:rPr lang="en-US" sz="2400" dirty="0">
                <a:latin typeface="Georgia"/>
              </a:rPr>
              <a:t>, </a:t>
            </a:r>
            <a:r>
              <a:rPr lang="en-US" sz="2400" i="1" dirty="0">
                <a:latin typeface="Georgia"/>
              </a:rPr>
              <a:t>3</a:t>
            </a:r>
            <a:r>
              <a:rPr lang="en-US" sz="2400" dirty="0">
                <a:latin typeface="Georgia"/>
              </a:rPr>
              <a:t>(3), 274–279.</a:t>
            </a:r>
            <a:endParaRPr lang="en-US" sz="2400" dirty="0">
              <a:ea typeface="Calibri" panose="020F0502020204030204"/>
              <a:cs typeface="Calibri" panose="020F0502020204030204"/>
            </a:endParaRPr>
          </a:p>
          <a:p>
            <a:pPr marL="0" indent="0">
              <a:buNone/>
            </a:pPr>
            <a:r>
              <a:rPr lang="en-US" sz="2400" dirty="0">
                <a:latin typeface="Georgia"/>
              </a:rPr>
              <a:t>Smith, B. D., Smith, P., &amp; Do, D. (2020). The role of big data and artificial intelligence in addressing the COVID-19 health crisis. </a:t>
            </a:r>
            <a:r>
              <a:rPr lang="en-US" sz="2400" i="1" dirty="0">
                <a:latin typeface="Georgia"/>
              </a:rPr>
              <a:t>Journal of Medical Internet Research</a:t>
            </a:r>
            <a:r>
              <a:rPr lang="en-US" sz="2400" dirty="0">
                <a:latin typeface="Georgia"/>
              </a:rPr>
              <a:t>, </a:t>
            </a:r>
            <a:r>
              <a:rPr lang="en-US" sz="2400" i="1" dirty="0">
                <a:latin typeface="Georgia"/>
              </a:rPr>
              <a:t>22</a:t>
            </a:r>
            <a:r>
              <a:rPr lang="en-US" sz="2400" dirty="0">
                <a:latin typeface="Georgia"/>
              </a:rPr>
              <a:t>(7).</a:t>
            </a:r>
            <a:endParaRPr lang="en-US" sz="2400" dirty="0">
              <a:ea typeface="Calibri" panose="020F0502020204030204"/>
              <a:cs typeface="Calibri" panose="020F0502020204030204"/>
            </a:endParaRPr>
          </a:p>
          <a:p>
            <a:pPr marL="0" indent="0">
              <a:buNone/>
            </a:pPr>
            <a:r>
              <a:rPr lang="en-US" sz="2400">
                <a:latin typeface="Georgia"/>
              </a:rPr>
              <a:t>Turner, W., </a:t>
            </a:r>
            <a:r>
              <a:rPr lang="en-US" sz="2400" err="1">
                <a:latin typeface="Georgia"/>
              </a:rPr>
              <a:t>Rondinini</a:t>
            </a:r>
            <a:r>
              <a:rPr lang="en-US" sz="2400" dirty="0">
                <a:latin typeface="Georgia"/>
              </a:rPr>
              <a:t>, C., </a:t>
            </a:r>
            <a:r>
              <a:rPr lang="en-US" sz="2400" err="1">
                <a:latin typeface="Georgia"/>
              </a:rPr>
              <a:t>Pettorelli</a:t>
            </a:r>
            <a:r>
              <a:rPr lang="en-US" sz="2400" dirty="0">
                <a:latin typeface="Georgia"/>
              </a:rPr>
              <a:t>, N., Mora, B., Leidner, A. K., </a:t>
            </a:r>
            <a:r>
              <a:rPr lang="en-US" sz="2400" err="1">
                <a:latin typeface="Georgia"/>
              </a:rPr>
              <a:t>Szantoi</a:t>
            </a:r>
            <a:r>
              <a:rPr lang="en-US" sz="2400" dirty="0">
                <a:latin typeface="Georgia"/>
              </a:rPr>
              <a:t>, Z., &amp; Burgess. (2015). Free and open-access satellite data are key to biodiversity conservation. </a:t>
            </a:r>
            <a:r>
              <a:rPr lang="en-US" sz="2400" i="1" dirty="0">
                <a:latin typeface="Georgia"/>
              </a:rPr>
              <a:t>Biological Conservation</a:t>
            </a:r>
            <a:r>
              <a:rPr lang="en-US" sz="2400" dirty="0">
                <a:latin typeface="Georgia"/>
              </a:rPr>
              <a:t>, </a:t>
            </a:r>
            <a:r>
              <a:rPr lang="en-US" sz="2400" i="1" dirty="0">
                <a:latin typeface="Georgia"/>
              </a:rPr>
              <a:t>182</a:t>
            </a:r>
            <a:r>
              <a:rPr lang="en-US" sz="2400" dirty="0">
                <a:latin typeface="Georgia"/>
              </a:rPr>
              <a:t>, 173–176.</a:t>
            </a:r>
            <a:endParaRPr lang="en-US" sz="2400" dirty="0">
              <a:ea typeface="Calibri" panose="020F0502020204030204"/>
              <a:cs typeface="Calibri" panose="020F0502020204030204"/>
            </a:endParaRPr>
          </a:p>
          <a:p>
            <a:pPr marL="0" indent="0">
              <a:buNone/>
            </a:pPr>
            <a:r>
              <a:rPr lang="en-US" sz="2400" i="1" dirty="0">
                <a:latin typeface="Georgia"/>
              </a:rPr>
              <a:t>Matplotlib — visualization with python</a:t>
            </a:r>
            <a:r>
              <a:rPr lang="en-US" sz="2400" dirty="0">
                <a:latin typeface="Georgia"/>
              </a:rPr>
              <a:t>. (n.d.). Matplotlib.org. Retrieved August 20, 2023, from </a:t>
            </a:r>
            <a:r>
              <a:rPr lang="en-US" sz="2400" dirty="0">
                <a:latin typeface="Georgia"/>
                <a:hlinkClick r:id="rId2"/>
              </a:rPr>
              <a:t>https://matplotlib.org/</a:t>
            </a:r>
            <a:endParaRPr lang="en-US" sz="2400" dirty="0">
              <a:ea typeface="Calibri" panose="020F0502020204030204"/>
              <a:cs typeface="Calibri" panose="020F0502020204030204"/>
            </a:endParaRPr>
          </a:p>
          <a:p>
            <a:pPr marL="0" indent="0">
              <a:buNone/>
            </a:pPr>
            <a:r>
              <a:rPr lang="en-US" sz="2400" i="1" dirty="0">
                <a:latin typeface="Georgia"/>
              </a:rPr>
              <a:t>pandas</a:t>
            </a:r>
            <a:r>
              <a:rPr lang="en-US" sz="2400" dirty="0">
                <a:latin typeface="Georgia"/>
              </a:rPr>
              <a:t>. (n.d.). Pydata.org. Retrieved August 20, 2023, from </a:t>
            </a:r>
            <a:r>
              <a:rPr lang="en-US" sz="2400" dirty="0">
                <a:latin typeface="Georgia"/>
                <a:hlinkClick r:id="rId3"/>
              </a:rPr>
              <a:t>https://pandas.pydata.org/</a:t>
            </a:r>
            <a:endParaRPr lang="en-US" sz="2400" dirty="0">
              <a:ea typeface="Calibri" panose="020F0502020204030204"/>
              <a:cs typeface="Calibri" panose="020F0502020204030204"/>
            </a:endParaRPr>
          </a:p>
          <a:p>
            <a:pPr marL="0" indent="0">
              <a:buNone/>
            </a:pPr>
            <a:r>
              <a:rPr lang="en-US" sz="2400" i="1" dirty="0">
                <a:latin typeface="Georgia"/>
              </a:rPr>
              <a:t>Pandas tutorial</a:t>
            </a:r>
            <a:r>
              <a:rPr lang="en-US" sz="2400" dirty="0">
                <a:latin typeface="Georgia"/>
              </a:rPr>
              <a:t>. (n.d.). W3schools.com. Retrieved August 20, 2023, from </a:t>
            </a:r>
            <a:r>
              <a:rPr lang="en-US" sz="2400" dirty="0">
                <a:latin typeface="Georgia"/>
                <a:hlinkClick r:id="rId4"/>
              </a:rPr>
              <a:t>https://www.w3schools.com/python/pandas/default.asp</a:t>
            </a:r>
            <a:endParaRPr lang="en-US" sz="2400" dirty="0">
              <a:ea typeface="Calibri"/>
              <a:cs typeface="Calibri"/>
            </a:endParaRPr>
          </a:p>
          <a:p>
            <a:endParaRPr lang="en-US" sz="2400" dirty="0">
              <a:ea typeface="Calibri"/>
              <a:cs typeface="Calibri"/>
            </a:endParaRPr>
          </a:p>
        </p:txBody>
      </p:sp>
    </p:spTree>
    <p:extLst>
      <p:ext uri="{BB962C8B-B14F-4D97-AF65-F5344CB8AC3E}">
        <p14:creationId xmlns:p14="http://schemas.microsoft.com/office/powerpoint/2010/main" val="403064564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94</TotalTime>
  <Words>972</Words>
  <Application>Microsoft Office PowerPoint</Application>
  <PresentationFormat>Widescreen</PresentationFormat>
  <Paragraphs>45</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Calibri Light</vt:lpstr>
      <vt:lpstr>Georgia</vt:lpstr>
      <vt:lpstr>office theme</vt:lpstr>
      <vt:lpstr>   </vt:lpstr>
      <vt:lpstr>Introduction:</vt:lpstr>
      <vt:lpstr>About the dataset</vt:lpstr>
      <vt:lpstr>EDA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Proposed solution</vt:lpstr>
      <vt:lpstr>Cont. </vt:lpstr>
      <vt:lpstr>PowerPoint Presentation</vt:lpstr>
      <vt:lpstr>Proposed solution </vt:lpstr>
      <vt:lpstr>Cont. </vt:lpstr>
      <vt:lpstr> Conclusion: </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Astro Wizard</cp:lastModifiedBy>
  <cp:revision>134</cp:revision>
  <dcterms:created xsi:type="dcterms:W3CDTF">2023-08-20T18:50:37Z</dcterms:created>
  <dcterms:modified xsi:type="dcterms:W3CDTF">2023-08-20T20:54:00Z</dcterms:modified>
</cp:coreProperties>
</file>